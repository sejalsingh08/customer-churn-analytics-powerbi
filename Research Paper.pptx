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702"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2360735" y="1143000"/>
            <a:ext cx="2136531"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696DE7-B7DE-483B-8CAF-C5755E5ECB7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9696DE7-B7DE-483B-8CAF-C5755E5ECB7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696DE7-B7DE-483B-8CAF-C5755E5ECB7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9696DE7-B7DE-483B-8CAF-C5755E5ECB7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9696DE7-B7DE-483B-8CAF-C5755E5ECB73}"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696DE7-B7DE-483B-8CAF-C5755E5ECB73}"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696DE7-B7DE-483B-8CAF-C5755E5ECB73}"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696DE7-B7DE-483B-8CAF-C5755E5ECB7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696DE7-B7DE-483B-8CAF-C5755E5ECB7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9696DE7-B7DE-483B-8CAF-C5755E5ECB7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9696DE7-B7DE-483B-8CAF-C5755E5ECB7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3AE019-4CEE-4ACC-8162-EC2B072192BC}" type="slidenum">
              <a:rPr lang="en-IN" smtClean="0"/>
            </a:fld>
            <a:endParaRPr lang="en-I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79696DE7-B7DE-483B-8CAF-C5755E5ECB73}" type="datetimeFigureOut">
              <a:rPr lang="en-IN" smtClean="0"/>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8D3AE019-4CEE-4ACC-8162-EC2B072192B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725" y="4953000"/>
            <a:ext cx="6686550" cy="2391656"/>
          </a:xfrm>
        </p:spPr>
        <p:txBody>
          <a:bodyPr/>
          <a:lstStyle/>
          <a:p>
            <a:r>
              <a:rPr lang="en-IN" b="1" i="1" dirty="0">
                <a:solidFill>
                  <a:srgbClr val="002060"/>
                </a:solidFill>
              </a:rPr>
              <a:t>Author:</a:t>
            </a:r>
            <a:r>
              <a:rPr lang="en-IN" i="1" dirty="0">
                <a:solidFill>
                  <a:srgbClr val="002060"/>
                </a:solidFill>
              </a:rPr>
              <a:t> Sejal</a:t>
            </a:r>
            <a:r>
              <a:rPr lang="en-US" altLang="en-IN" i="1" dirty="0">
                <a:solidFill>
                  <a:srgbClr val="002060"/>
                </a:solidFill>
              </a:rPr>
              <a:t> Singh</a:t>
            </a:r>
            <a:br>
              <a:rPr lang="en-IN" i="1" dirty="0">
                <a:solidFill>
                  <a:srgbClr val="002060"/>
                </a:solidFill>
              </a:rPr>
            </a:br>
            <a:r>
              <a:rPr lang="en-IN" b="1" i="1" dirty="0">
                <a:solidFill>
                  <a:srgbClr val="002060"/>
                </a:solidFill>
              </a:rPr>
              <a:t>Tool Used:</a:t>
            </a:r>
            <a:r>
              <a:rPr lang="en-IN" i="1" dirty="0">
                <a:solidFill>
                  <a:srgbClr val="002060"/>
                </a:solidFill>
              </a:rPr>
              <a:t> Microsoft Power BI</a:t>
            </a:r>
            <a:br>
              <a:rPr lang="en-IN" i="1" dirty="0">
                <a:solidFill>
                  <a:srgbClr val="002060"/>
                </a:solidFill>
              </a:rPr>
            </a:br>
            <a:r>
              <a:rPr lang="en-IN" b="1" i="1" dirty="0">
                <a:solidFill>
                  <a:srgbClr val="002060"/>
                </a:solidFill>
              </a:rPr>
              <a:t>Dataset:</a:t>
            </a:r>
            <a:r>
              <a:rPr lang="en-IN" i="1" dirty="0">
                <a:solidFill>
                  <a:srgbClr val="002060"/>
                </a:solidFill>
              </a:rPr>
              <a:t> European Bank Customer Churn Dataset</a:t>
            </a:r>
            <a:br>
              <a:rPr lang="en-IN" i="1" dirty="0">
                <a:solidFill>
                  <a:srgbClr val="002060"/>
                </a:solidFill>
              </a:rPr>
            </a:br>
            <a:r>
              <a:rPr lang="en-IN" b="1" i="1" dirty="0">
                <a:solidFill>
                  <a:srgbClr val="002060"/>
                </a:solidFill>
              </a:rPr>
              <a:t>Project Type:</a:t>
            </a:r>
            <a:r>
              <a:rPr lang="en-IN" i="1" dirty="0">
                <a:solidFill>
                  <a:srgbClr val="002060"/>
                </a:solidFill>
              </a:rPr>
              <a:t> Business Intelligence &amp; Customer Analytics</a:t>
            </a:r>
            <a:endParaRPr lang="en-IN" i="1" dirty="0">
              <a:solidFill>
                <a:srgbClr val="002060"/>
              </a:solidFill>
            </a:endParaRPr>
          </a:p>
          <a:p>
            <a:endParaRPr lang="en-IN" i="1" dirty="0"/>
          </a:p>
        </p:txBody>
      </p:sp>
      <p:sp>
        <p:nvSpPr>
          <p:cNvPr id="12" name="Text Box 11"/>
          <p:cNvSpPr txBox="1"/>
          <p:nvPr/>
        </p:nvSpPr>
        <p:spPr>
          <a:xfrm>
            <a:off x="1049020" y="2764790"/>
            <a:ext cx="4759960" cy="1270635"/>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pPr lvl="0" algn="ctr"/>
            <a:r>
              <a:rPr lang="en-IN" sz="2200" b="1" dirty="0">
                <a:latin typeface="Calibri" panose="020F0502020204030204" pitchFamily="34" charset="0"/>
                <a:ea typeface="Calibri" panose="020F0502020204030204" pitchFamily="34" charset="0"/>
                <a:cs typeface="Calibri" panose="020F0502020204030204" pitchFamily="34" charset="0"/>
                <a:sym typeface="+mn-ea"/>
              </a:rPr>
              <a:t>Customer Segmentation &amp; Churn Pattern Analytics in European Banking Using Microsoft Power BI</a:t>
            </a:r>
            <a:endParaRPr lang="en-US" sz="2200"/>
          </a:p>
        </p:txBody>
      </p:sp>
      <p:sp>
        <p:nvSpPr>
          <p:cNvPr id="13" name="Slide Number Placeholder 12"/>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488" y="1313498"/>
            <a:ext cx="5915025" cy="7278331"/>
          </a:xfrm>
        </p:spPr>
        <p:txBody>
          <a:bodyPr>
            <a:normAutofit fontScale="25000"/>
          </a:bodyPr>
          <a:lstStyle/>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Customer churn is one of the most significant challenges faced by retail banks, as losing existing customers directly affects revenue, profitability, and long-term business growth. Identifying customer segments with a higher likelihood of churn enables banks to implement targeted retention strategies and improve customer satisfaction. This project </a:t>
            </a:r>
            <a:r>
              <a:rPr lang="en-IN" sz="6400" dirty="0" err="1">
                <a:solidFill>
                  <a:srgbClr val="002060"/>
                </a:solidFill>
                <a:latin typeface="Calibri" panose="020F0502020204030204" pitchFamily="34" charset="0"/>
                <a:ea typeface="Calibri" panose="020F0502020204030204" pitchFamily="34" charset="0"/>
                <a:cs typeface="Calibri" panose="020F0502020204030204" pitchFamily="34" charset="0"/>
              </a:rPr>
              <a:t>analyzes</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customer churn patterns using a European banking dataset and develops an interactive dashboard using Microsoft Power BI.</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 dashboard provides insights into customer </a:t>
            </a:r>
            <a:r>
              <a:rPr lang="en-IN" sz="6400"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across multiple dimensions, including geography, gender, age group, tenure, account balance, and customer engagement. Key performance indicators (KPIs) such as Churn Rate, High-Value Churn Ratio, Geographic Risk Index, and Engagement Drop Indicator were developed using DAX measures to summarize customer retention performance.</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 analysis reveals an overall churn rate of </a:t>
            </a:r>
            <a:r>
              <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rPr>
              <a:t>20.37%</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with customers from Germany, customers aged </a:t>
            </a:r>
            <a:r>
              <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rPr>
              <a:t>46–60 years</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and high-balance customers exhibiting relatively higher churn rates. Female customers also displayed a slightly higher churn rate than male customers. These findings highlight opportunities for targeted customer retention initiatives, improved engagement strategies, and personalized banking services.</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 project demonstrates how Microsoft Power BI can transform raw customer data into meaningful business intelligence, enabling banks to make informed, data-driven decisions that improve customer retention and operational performance.</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rPr>
              <a:t>Keywords:</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Customer Churn, Power BI, Business Intelligence, Banking Analytics, Customer Segmentation, Data Visualization.</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IN" sz="6400" dirty="0"/>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ABSTRACT</a:t>
            </a:r>
            <a:endParaRPr lang="en-US" sz="2200" b="1">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488" y="1326374"/>
            <a:ext cx="5915025" cy="6285266"/>
          </a:xfrm>
        </p:spPr>
        <p:txBody>
          <a:bodyPr>
            <a:normAutofit fontScale="70000"/>
          </a:bodyPr>
          <a:lstStyle/>
          <a:p>
            <a:pPr algn="just"/>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The banking industry is becoming increasingly competitive due to rapid digital transformation, evolving customer expectations, and the availability of alternative financial service providers. As acquiring new customers is significantly more expensive than retaining existing ones, customer retention has become a strategic priority for financial institutions.</a:t>
            </a:r>
            <a:endPar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Customer churn refers to the percentage of customers who discontinue their relationship with a bank during a specific period. High churn rates reduce customer lifetime value, increase acquisition costs, and negatively affect profitability. Consequently, banks continuously monitor customer </a:t>
            </a:r>
            <a:r>
              <a:rPr lang="en-IN" sz="2285"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 to identify factors contributing to churn and develop proactive retention strategies.</a:t>
            </a:r>
            <a:endPar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Business Intelligence (BI) tools such as Microsoft Power BI provide organizations with powerful capabilities to </a:t>
            </a:r>
            <a:r>
              <a:rPr lang="en-IN" sz="2285" dirty="0" err="1">
                <a:solidFill>
                  <a:srgbClr val="002060"/>
                </a:solidFill>
                <a:latin typeface="Calibri" panose="020F0502020204030204" pitchFamily="34" charset="0"/>
                <a:ea typeface="Calibri" panose="020F0502020204030204" pitchFamily="34" charset="0"/>
                <a:cs typeface="Calibri" panose="020F0502020204030204" pitchFamily="34" charset="0"/>
              </a:rPr>
              <a:t>analyze</a:t>
            </a:r>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 large datasets, visualize customer </a:t>
            </a:r>
            <a:r>
              <a:rPr lang="en-IN" sz="2285"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 and support strategic decision-making. Through interactive dashboards, banks can identify customer segments with higher churn risk, compare regional performance, monitor key performance indicators, and gain actionable insights.</a:t>
            </a:r>
            <a:endPar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This project focuses on </a:t>
            </a:r>
            <a:r>
              <a:rPr lang="en-IN" sz="2285" dirty="0" err="1">
                <a:solidFill>
                  <a:srgbClr val="002060"/>
                </a:solidFill>
                <a:latin typeface="Calibri" panose="020F0502020204030204" pitchFamily="34" charset="0"/>
                <a:ea typeface="Calibri" panose="020F0502020204030204" pitchFamily="34" charset="0"/>
                <a:cs typeface="Calibri" panose="020F0502020204030204" pitchFamily="34" charset="0"/>
              </a:rPr>
              <a:t>analyzing</a:t>
            </a:r>
            <a:r>
              <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rPr>
              <a:t> customer churn patterns within a European banking dataset. Using Microsoft Power BI, an interactive dashboard was developed to examine churn across multiple customer dimensions, including age, geography, gender, tenure, account balance, and customer engagement. The insights generated from this analysis can assist banking professionals in designing effective customer retention strategies and improving overall business performance.</a:t>
            </a:r>
            <a:endParaRPr lang="en-IN" sz="2285"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endParaRPr lang="en-IN" sz="2285" dirty="0"/>
          </a:p>
        </p:txBody>
      </p:sp>
      <p:sp>
        <p:nvSpPr>
          <p:cNvPr id="12" name="Text Box 11"/>
          <p:cNvSpPr txBox="1"/>
          <p:nvPr/>
        </p:nvSpPr>
        <p:spPr>
          <a:xfrm>
            <a:off x="-635" y="44958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INTRODUCTION</a:t>
            </a:r>
            <a:endParaRPr lang="en-US" sz="2200" b="1">
              <a:latin typeface="Calibri" panose="020F0502020204030204" pitchFamily="34" charset="0"/>
              <a:cs typeface="Calibri" panose="020F0502020204030204" pitchFamily="34" charset="0"/>
            </a:endParaRPr>
          </a:p>
        </p:txBody>
      </p:sp>
      <p:sp>
        <p:nvSpPr>
          <p:cNvPr id="8" name="Slide Number Placeholder 7"/>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7377" y="527405"/>
            <a:ext cx="5915025" cy="1914702"/>
          </a:xfrm>
        </p:spPr>
        <p:txBody>
          <a:bodyPr>
            <a:norm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PROBLEM STATEMENT</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a:bodyPr>
          <a:lstStyle/>
          <a:p>
            <a:r>
              <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rPr>
              <a:t>Customer churn represents a major financial challenge for banks because it reduces recurring revenue, limits cross-selling opportunities, and increases customer acquisition costs. While banks collect extensive customer information, they often struggle to convert this data into actionable insights.</a:t>
            </a:r>
            <a:endPar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rPr>
              <a:t>The absence of effective visualization and monitoring tools makes it difficult to identify high-risk customer segments and understand the factors contributing to customer attrition. As a result, many retention initiatives remain reactive instead of proactive.</a:t>
            </a:r>
            <a:endPar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rPr>
              <a:t>This project addresses this challenge by using Microsoft Power BI to </a:t>
            </a:r>
            <a:r>
              <a:rPr lang="en-IN" sz="1800" dirty="0" err="1">
                <a:solidFill>
                  <a:srgbClr val="002060"/>
                </a:solidFill>
                <a:latin typeface="Calibri" panose="020F0502020204030204" pitchFamily="34" charset="0"/>
                <a:ea typeface="Calibri" panose="020F0502020204030204" pitchFamily="34" charset="0"/>
                <a:cs typeface="Calibri" panose="020F0502020204030204" pitchFamily="34" charset="0"/>
              </a:rPr>
              <a:t>analyze</a:t>
            </a:r>
            <a:r>
              <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rPr>
              <a:t> customer churn patterns and identify the demographic, geographic, and </a:t>
            </a:r>
            <a:r>
              <a:rPr lang="en-IN" sz="1800"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behavioral</a:t>
            </a:r>
            <a:r>
              <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rPr>
              <a:t> characteristics associated with higher churn rates. The resulting dashboard enables decision-makers to monitor key performance indicators and develop data-driven customer retention strategies.</a:t>
            </a:r>
            <a:endParaRPr lang="en-IN" sz="18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PROBLEM STATEMENT</a:t>
            </a:r>
            <a:endParaRPr lang="en-US" sz="2200" b="1">
              <a:latin typeface="Calibri" panose="020F0502020204030204" pitchFamily="34" charset="0"/>
              <a:cs typeface="Calibri" panose="020F0502020204030204" pitchFamily="34" charset="0"/>
            </a:endParaRPr>
          </a:p>
        </p:txBody>
      </p:sp>
      <p:sp>
        <p:nvSpPr>
          <p:cNvPr id="6" name="Slide Number Placeholder 5"/>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930" y="1407160"/>
            <a:ext cx="6249670" cy="6285230"/>
          </a:xfrm>
        </p:spPr>
        <p:txBody>
          <a:bodyPr>
            <a:normAutofit/>
          </a:bodyPr>
          <a:lstStyle/>
          <a:p>
            <a:pPr marL="0" indent="0" algn="just">
              <a:buNone/>
            </a:pPr>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The primary objectives of this project are: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Analyse customer churn patterns within a European banking dataset.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Calculate and visualize key customer retention metrics using Power BI.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Identify customer segments with higher churn risk.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Compare churn rates across different geographical regions.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Analyse the influence of customer demographics on churn.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Evaluate customer engagement using activity and tenure information.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Develop an interactive dashboard for business decision-making. </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Provide actionable recommendations to improve customer retention.</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endParaRPr lang="en-IN" sz="1600" dirty="0"/>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PROJECT OBJECTIVE</a:t>
            </a:r>
            <a:endParaRPr lang="en-US" sz="2200" b="1">
              <a:latin typeface="Calibri" panose="020F0502020204030204" pitchFamily="34" charset="0"/>
              <a:cs typeface="Calibri" panose="020F0502020204030204" pitchFamily="34" charset="0"/>
            </a:endParaRPr>
          </a:p>
        </p:txBody>
      </p:sp>
      <p:sp>
        <p:nvSpPr>
          <p:cNvPr id="7" name="Slide Number Placeholder 6"/>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150" y="1214755"/>
            <a:ext cx="6250940" cy="6285230"/>
          </a:xfrm>
        </p:spPr>
        <p:txBody>
          <a:bodyPr/>
          <a:lstStyle/>
          <a:p>
            <a:pPr marL="0" indent="0" algn="just">
              <a:buNone/>
            </a:pPr>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The project utilizes a European banking customer dataset containing demographic, financial, and behavioural information for </a:t>
            </a:r>
            <a:r>
              <a:rPr lang="en-IN" sz="1600" b="1" dirty="0">
                <a:solidFill>
                  <a:srgbClr val="002060"/>
                </a:solidFill>
                <a:latin typeface="Calibri" panose="020F0502020204030204" pitchFamily="34" charset="0"/>
                <a:ea typeface="Calibri" panose="020F0502020204030204" pitchFamily="34" charset="0"/>
                <a:cs typeface="Calibri" panose="020F0502020204030204" pitchFamily="34" charset="0"/>
              </a:rPr>
              <a:t>10,000 customers</a:t>
            </a:r>
            <a:r>
              <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rPr>
              <a:t>. Each record represents an individual customer and includes attributes related to personal information, banking activity, and churn status.</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a:p>
            <a:pPr marL="0" indent="0">
              <a:buNone/>
            </a:pPr>
            <a:endParaRPr lang="en-IN" dirty="0"/>
          </a:p>
        </p:txBody>
      </p:sp>
      <p:graphicFrame>
        <p:nvGraphicFramePr>
          <p:cNvPr id="4" name="Table 3"/>
          <p:cNvGraphicFramePr>
            <a:graphicFrameLocks noGrp="1"/>
          </p:cNvGraphicFramePr>
          <p:nvPr/>
        </p:nvGraphicFramePr>
        <p:xfrm>
          <a:off x="471484" y="2946400"/>
          <a:ext cx="5915024" cy="5943600"/>
        </p:xfrm>
        <a:graphic>
          <a:graphicData uri="http://schemas.openxmlformats.org/drawingml/2006/table">
            <a:tbl>
              <a:tblPr>
                <a:tableStyleId>{2D5ABB26-0587-4C30-8999-92F81FD0307C}</a:tableStyleId>
              </a:tblPr>
              <a:tblGrid>
                <a:gridCol w="2957512"/>
                <a:gridCol w="2957512"/>
              </a:tblGrid>
              <a:tr h="297180">
                <a:tc>
                  <a:txBody>
                    <a:bodyPr/>
                    <a:lstStyle/>
                    <a:p>
                      <a:pPr algn="just">
                        <a:buNone/>
                      </a:pPr>
                      <a:r>
                        <a:rPr lang="en-IN" sz="1600" b="1" dirty="0">
                          <a:solidFill>
                            <a:srgbClr val="002060"/>
                          </a:solidFill>
                          <a:latin typeface="Calibri" panose="020F0502020204030204" pitchFamily="34" charset="0"/>
                          <a:cs typeface="Calibri" panose="020F0502020204030204" pitchFamily="34" charset="0"/>
                        </a:rPr>
                        <a:t>Variable</a:t>
                      </a:r>
                      <a:endParaRPr lang="en-IN" sz="16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b="1" dirty="0">
                          <a:solidFill>
                            <a:srgbClr val="002060"/>
                          </a:solidFill>
                          <a:latin typeface="Calibri" panose="020F0502020204030204" pitchFamily="34" charset="0"/>
                          <a:cs typeface="Calibri" panose="020F0502020204030204" pitchFamily="34" charset="0"/>
                        </a:rPr>
                        <a:t>Description</a:t>
                      </a:r>
                      <a:endParaRPr lang="en-IN" sz="16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ID</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Unique customer identifier</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Surname</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surname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Credit Score</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creditworthiness</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2920">
                <a:tc>
                  <a:txBody>
                    <a:bodyPr/>
                    <a:lstStyle/>
                    <a:p>
                      <a:pPr algn="just">
                        <a:buNone/>
                      </a:pPr>
                      <a:r>
                        <a:rPr lang="en-IN" sz="1600">
                          <a:solidFill>
                            <a:srgbClr val="002060"/>
                          </a:solidFill>
                          <a:latin typeface="Calibri" panose="020F0502020204030204" pitchFamily="34" charset="0"/>
                          <a:cs typeface="Calibri" panose="020F0502020204030204" pitchFamily="34" charset="0"/>
                        </a:rPr>
                        <a:t>Geography</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location (France, Germany, Spain)</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Gender</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Male or Female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Age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age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Tenure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Years with the bank</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Balance</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Current account balance</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Number of Products</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Banking products used</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2920">
                <a:tc>
                  <a:txBody>
                    <a:bodyPr/>
                    <a:lstStyle/>
                    <a:p>
                      <a:pPr algn="just">
                        <a:buNone/>
                      </a:pPr>
                      <a:r>
                        <a:rPr lang="en-IN" sz="1600">
                          <a:solidFill>
                            <a:srgbClr val="002060"/>
                          </a:solidFill>
                          <a:latin typeface="Calibri" panose="020F0502020204030204" pitchFamily="34" charset="0"/>
                          <a:cs typeface="Calibri" panose="020F0502020204030204" pitchFamily="34" charset="0"/>
                        </a:rPr>
                        <a:t>Credit Card</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Whether the customer owns a credit card</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Active Member</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activity status</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7180">
                <a:tc>
                  <a:txBody>
                    <a:bodyPr/>
                    <a:lstStyle/>
                    <a:p>
                      <a:pPr algn="just">
                        <a:buNone/>
                      </a:pPr>
                      <a:r>
                        <a:rPr lang="en-IN" sz="1600">
                          <a:solidFill>
                            <a:srgbClr val="002060"/>
                          </a:solidFill>
                          <a:latin typeface="Calibri" panose="020F0502020204030204" pitchFamily="34" charset="0"/>
                          <a:cs typeface="Calibri" panose="020F0502020204030204" pitchFamily="34" charset="0"/>
                        </a:rPr>
                        <a:t>Estimated Salary</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Annual estimated salary</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2920">
                <a:tc>
                  <a:txBody>
                    <a:bodyPr/>
                    <a:lstStyle/>
                    <a:p>
                      <a:pPr algn="just">
                        <a:buNone/>
                      </a:pPr>
                      <a:r>
                        <a:rPr lang="en-IN" sz="1600">
                          <a:solidFill>
                            <a:srgbClr val="002060"/>
                          </a:solidFill>
                          <a:latin typeface="Calibri" panose="020F0502020204030204" pitchFamily="34" charset="0"/>
                          <a:cs typeface="Calibri" panose="020F0502020204030204" pitchFamily="34" charset="0"/>
                        </a:rPr>
                        <a:t>Exited</a:t>
                      </a:r>
                      <a:endParaRPr lang="en-IN" sz="160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1600" dirty="0">
                          <a:solidFill>
                            <a:srgbClr val="002060"/>
                          </a:solidFill>
                          <a:latin typeface="Calibri" panose="020F0502020204030204" pitchFamily="34" charset="0"/>
                          <a:cs typeface="Calibri" panose="020F0502020204030204" pitchFamily="34" charset="0"/>
                        </a:rPr>
                        <a:t>Customer churn status (1 = Churned, 0 = Retained)</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DATASET DESCRIPTION</a:t>
            </a:r>
            <a:endParaRPr lang="en-US" sz="2200" b="1">
              <a:latin typeface="Calibri" panose="020F0502020204030204" pitchFamily="34" charset="0"/>
              <a:cs typeface="Calibri" panose="020F0502020204030204" pitchFamily="34" charset="0"/>
            </a:endParaRPr>
          </a:p>
        </p:txBody>
      </p:sp>
      <p:sp>
        <p:nvSpPr>
          <p:cNvPr id="8" name="Slide Number Placeholder 7"/>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7947" y="107670"/>
            <a:ext cx="5915025" cy="1914702"/>
          </a:xfrm>
        </p:spPr>
        <p:txBody>
          <a:bodyPr>
            <a:norm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METHODOLOGY</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71487" y="1347010"/>
            <a:ext cx="5915025" cy="7213069"/>
          </a:xfrm>
        </p:spPr>
        <p:txBody>
          <a:bodyPr>
            <a:normAutofit fontScale="40000"/>
          </a:bodyPr>
          <a:lstStyle/>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This project follows a Business Intelligence (BI) approach to analyse customer churn patterns using Microsoft Power BI. The methodology consists of data preparation, transformation, visualization, and business insight generation.</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5.1 Data Collection</a:t>
            </a:r>
            <a:endParaRPr lang="en-IN" sz="4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The analysis utilizes the </a:t>
            </a:r>
            <a:r>
              <a:rPr lang="en-IN" sz="4000" b="1" dirty="0">
                <a:solidFill>
                  <a:srgbClr val="002060"/>
                </a:solidFill>
                <a:latin typeface="Calibri" panose="020F0502020204030204" pitchFamily="34" charset="0"/>
                <a:ea typeface="Calibri" panose="020F0502020204030204" pitchFamily="34" charset="0"/>
                <a:cs typeface="Calibri" panose="020F0502020204030204" pitchFamily="34" charset="0"/>
              </a:rPr>
              <a:t>European Bank Customer Churn Dataset</a:t>
            </a: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 which contains demographic, financial, and behavioural information for 10,000 customers. The dataset includes customer attributes such as age, geography, credit score, account balance, number of products, customer activity status, and churn status.</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The target variable used in the analysis is </a:t>
            </a:r>
            <a:r>
              <a:rPr lang="en-IN" sz="4000" b="1" dirty="0">
                <a:solidFill>
                  <a:srgbClr val="002060"/>
                </a:solidFill>
                <a:latin typeface="Calibri" panose="020F0502020204030204" pitchFamily="34" charset="0"/>
                <a:ea typeface="Calibri" panose="020F0502020204030204" pitchFamily="34" charset="0"/>
                <a:cs typeface="Calibri" panose="020F0502020204030204" pitchFamily="34" charset="0"/>
              </a:rPr>
              <a:t>Exited</a:t>
            </a: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 where:</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lvl="0" indent="0" algn="just">
              <a:buNone/>
            </a:pPr>
            <a:r>
              <a:rPr lang="en-IN" sz="4000" b="1" dirty="0">
                <a:solidFill>
                  <a:srgbClr val="002060"/>
                </a:solidFill>
                <a:latin typeface="Calibri" panose="020F0502020204030204" pitchFamily="34" charset="0"/>
                <a:ea typeface="Calibri" panose="020F0502020204030204" pitchFamily="34" charset="0"/>
                <a:cs typeface="Calibri" panose="020F0502020204030204" pitchFamily="34" charset="0"/>
              </a:rPr>
              <a:t>0 = Customer Retained</a:t>
            </a: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lvl="0" indent="0" algn="just">
              <a:buNone/>
            </a:pPr>
            <a:r>
              <a:rPr lang="en-IN" sz="4000" b="1" dirty="0">
                <a:solidFill>
                  <a:srgbClr val="002060"/>
                </a:solidFill>
                <a:latin typeface="Calibri" panose="020F0502020204030204" pitchFamily="34" charset="0"/>
                <a:ea typeface="Calibri" panose="020F0502020204030204" pitchFamily="34" charset="0"/>
                <a:cs typeface="Calibri" panose="020F0502020204030204" pitchFamily="34" charset="0"/>
              </a:rPr>
              <a:t>1 = Customer Churned</a:t>
            </a:r>
            <a:endParaRPr lang="en-IN" sz="40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endParaRPr lang="en-IN" sz="40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b="1" dirty="0">
                <a:latin typeface="Calibri" panose="020F0502020204030204" pitchFamily="34" charset="0"/>
                <a:ea typeface="Calibri" panose="020F0502020204030204" pitchFamily="34" charset="0"/>
                <a:cs typeface="Calibri" panose="020F0502020204030204" pitchFamily="34" charset="0"/>
              </a:rPr>
              <a:t>5.2 Data Cleaning</a:t>
            </a:r>
            <a:endParaRPr lang="en-IN" sz="40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Before visualization, the dataset was cleaned to improve accuracy and consistency.</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The following preprocessing steps were performed:</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Checked for missing values.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Removed duplicate records where necessary.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Verified data types for numerical and categorical variables.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Standardized categorical fields such as Geography and Gender.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Ensured consistency in customer segmentation variables. </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These preprocessing activities ensured that the dashboard accurately represented customer </a:t>
            </a:r>
            <a:r>
              <a:rPr lang="en-IN" sz="4000"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rPr>
              <a:t>.</a:t>
            </a: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lvl="0" indent="0" algn="just">
              <a:buNone/>
            </a:pPr>
            <a:endParaRPr lang="en-IN"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endParaRPr lang="en-IN" sz="4000" dirty="0"/>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METHODOLOGY</a:t>
            </a:r>
            <a:endParaRPr lang="en-US" sz="2200" b="1">
              <a:latin typeface="Calibri" panose="020F0502020204030204" pitchFamily="34" charset="0"/>
              <a:cs typeface="Calibri" panose="020F0502020204030204" pitchFamily="34" charset="0"/>
            </a:endParaRPr>
          </a:p>
        </p:txBody>
      </p:sp>
      <p:sp>
        <p:nvSpPr>
          <p:cNvPr id="6" name="Slide Number Placeholder 5"/>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88" y="542925"/>
            <a:ext cx="5915025" cy="8815388"/>
          </a:xfrm>
        </p:spPr>
        <p:txBody>
          <a:bodyPr>
            <a:normAutofit fontScale="25000" lnSpcReduction="20000"/>
          </a:bodyPr>
          <a:lstStyle/>
          <a:p>
            <a:pPr marL="0" indent="0" algn="just">
              <a:buNone/>
            </a:pPr>
            <a:r>
              <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rPr>
              <a:t>5.3 Data Transformation</a:t>
            </a:r>
            <a:endPar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Additional measures and customer segments were created using DAX and Power BI transformations to improve analytical capabilities.</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 following calculated measures were developed:</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Overall Churn Rate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Segment Churn Rate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High-Value Customer Churn Ratio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Geographic Risk Index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Engagement Drop Indicator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Customer segmentation was also created for:</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Age Groups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Balance Segments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Tenure Groups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These calculated fields enabled deeper analysis of customer </a:t>
            </a:r>
            <a:r>
              <a:rPr lang="en-IN" sz="6400"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across multiple dimensions.</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b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b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rPr>
              <a:t>5.4 Dashboard Development</a:t>
            </a:r>
            <a:endParaRPr lang="en-IN" sz="64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Microsoft Power BI was used to design an interactive dashboard that provides a comprehensive overview of customer churn patterns.</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The dashboard includes:</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KPI Cards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Interactive slicers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Clustered column charts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Bar charts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Pie charts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Donut charts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Stacked visualizations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Customer segmentation charts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Interactive filters allow users to </a:t>
            </a:r>
            <a:r>
              <a:rPr lang="en-IN" sz="6400" dirty="0" err="1">
                <a:solidFill>
                  <a:srgbClr val="002060"/>
                </a:solidFill>
                <a:latin typeface="Calibri" panose="020F0502020204030204" pitchFamily="34" charset="0"/>
                <a:ea typeface="Calibri" panose="020F0502020204030204" pitchFamily="34" charset="0"/>
                <a:cs typeface="Calibri" panose="020F0502020204030204" pitchFamily="34" charset="0"/>
              </a:rPr>
              <a:t>analyze</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churn by:</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Geography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Gender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lvl="0" algn="just"/>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Age Group </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This functionality enables dynamic exploration of customer </a:t>
            </a:r>
            <a:r>
              <a:rPr lang="en-IN" sz="6400" dirty="0" err="1">
                <a:solidFill>
                  <a:srgbClr val="002060"/>
                </a:solidFill>
                <a:latin typeface="Calibri" panose="020F0502020204030204" pitchFamily="34" charset="0"/>
                <a:ea typeface="Calibri" panose="020F0502020204030204" pitchFamily="34" charset="0"/>
                <a:cs typeface="Calibri" panose="020F0502020204030204" pitchFamily="34" charset="0"/>
              </a:rPr>
              <a:t>behavior</a:t>
            </a:r>
            <a:r>
              <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rPr>
              <a:t> and supports business decision-making.</a:t>
            </a:r>
            <a:endParaRPr lang="en-IN" sz="6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br>
              <a:rPr lang="en-IN" sz="6400" dirty="0"/>
            </a:br>
            <a:endParaRPr lang="en-IN" sz="4500" dirty="0"/>
          </a:p>
          <a:p>
            <a:endParaRPr lang="en-IN" dirty="0"/>
          </a:p>
        </p:txBody>
      </p:sp>
      <p:sp>
        <p:nvSpPr>
          <p:cNvPr id="5" name="Slide Number Placeholder 4"/>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95" y="5315585"/>
            <a:ext cx="5915025" cy="4862830"/>
          </a:xfrm>
        </p:spPr>
        <p:txBody>
          <a:bodyPr>
            <a:normAutofit/>
          </a:bodyPr>
          <a:lstStyle/>
          <a:p>
            <a:pPr marL="0" indent="0">
              <a:buNone/>
            </a:pPr>
            <a:r>
              <a:rPr lang="en-US" altLang="en-US" sz="1600">
                <a:solidFill>
                  <a:srgbClr val="002060"/>
                </a:solidFill>
                <a:latin typeface="Calibri" panose="020F0502020204030204" pitchFamily="34" charset="0"/>
                <a:cs typeface="Calibri" panose="020F0502020204030204" pitchFamily="34" charset="0"/>
              </a:rPr>
              <a:t>The Power BI dashboard was developed to provide management with a comprehensive view of customer churn across multiple customer segments.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dashboard consists of four major analytical sections:</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Customer Retention KPIs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Customer Demographics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Customer Segmentation</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Churn Distribution Analysis</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enables decision-makers to quickly identify high-risk customer groups and evaluate the impact of customer demographics on churn behavior.</a:t>
            </a: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DASHBOARD OVERVIEW</a:t>
            </a:r>
            <a:endParaRPr lang="en-US" sz="2200" b="1">
              <a:latin typeface="Calibri" panose="020F0502020204030204" pitchFamily="34" charset="0"/>
              <a:cs typeface="Calibri" panose="020F0502020204030204" pitchFamily="34" charset="0"/>
            </a:endParaRPr>
          </a:p>
        </p:txBody>
      </p:sp>
      <p:pic>
        <p:nvPicPr>
          <p:cNvPr id="8" name="Picture 7" descr="Screenshot 2026-08-03 131644"/>
          <p:cNvPicPr>
            <a:picLocks noChangeAspect="1"/>
          </p:cNvPicPr>
          <p:nvPr/>
        </p:nvPicPr>
        <p:blipFill>
          <a:blip r:embed="rId1"/>
          <a:stretch>
            <a:fillRect/>
          </a:stretch>
        </p:blipFill>
        <p:spPr>
          <a:xfrm>
            <a:off x="184150" y="1357630"/>
            <a:ext cx="6508115" cy="3595370"/>
          </a:xfrm>
          <a:prstGeom prst="rect">
            <a:avLst/>
          </a:prstGeom>
        </p:spPr>
      </p:pic>
      <p:sp>
        <p:nvSpPr>
          <p:cNvPr id="9" name="Slide Number Placeholder 8"/>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760" y="2908300"/>
            <a:ext cx="6379845" cy="5821680"/>
          </a:xfrm>
        </p:spPr>
        <p:txBody>
          <a:bodyPr>
            <a:noAutofit/>
          </a:bodyPr>
          <a:lstStyle/>
          <a:p>
            <a:pPr marL="0" indent="0" algn="just">
              <a:buNone/>
            </a:pPr>
            <a:r>
              <a:rPr lang="en-US" altLang="en-US" sz="1600" b="1">
                <a:solidFill>
                  <a:schemeClr val="tx1"/>
                </a:solidFill>
                <a:latin typeface="Calibri" panose="020F0502020204030204" pitchFamily="34" charset="0"/>
                <a:cs typeface="Calibri" panose="020F0502020204030204" pitchFamily="34" charset="0"/>
              </a:rPr>
              <a:t>7.1 Key Performance Indicators (KPIs)</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displays four major Key Performance Indicators that summarize customer churn performance.</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Overall Churn Rate</a:t>
            </a:r>
            <a:r>
              <a:rPr lang="en-US" altLang="en-US" sz="1600" b="1">
                <a:solidFill>
                  <a:srgbClr val="002060"/>
                </a:solidFill>
                <a:latin typeface="Calibri" panose="020F0502020204030204" pitchFamily="34" charset="0"/>
                <a:cs typeface="Calibri" panose="020F0502020204030204" pitchFamily="34" charset="0"/>
              </a:rPr>
              <a:t> (20.37%)</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High-Value Customer Churn RatiO </a:t>
            </a:r>
            <a:r>
              <a:rPr lang="en-US" altLang="en-US" sz="1600" b="1">
                <a:solidFill>
                  <a:srgbClr val="002060"/>
                </a:solidFill>
                <a:latin typeface="Calibri" panose="020F0502020204030204" pitchFamily="34" charset="0"/>
                <a:cs typeface="Calibri" panose="020F0502020204030204" pitchFamily="34" charset="0"/>
              </a:rPr>
              <a:t>(25.23%)</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Geographic Risk Index	</a:t>
            </a:r>
            <a:r>
              <a:rPr lang="en-US" altLang="en-US" sz="1600" b="1">
                <a:solidFill>
                  <a:srgbClr val="002060"/>
                </a:solidFill>
                <a:latin typeface="Calibri" panose="020F0502020204030204" pitchFamily="34" charset="0"/>
                <a:cs typeface="Calibri" panose="020F0502020204030204" pitchFamily="34" charset="0"/>
              </a:rPr>
              <a:t>(32.44%)</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Engagement Drop Indicator </a:t>
            </a:r>
            <a:r>
              <a:rPr lang="en-US" altLang="en-US" sz="1600" b="1">
                <a:solidFill>
                  <a:srgbClr val="002060"/>
                </a:solidFill>
                <a:latin typeface="Calibri" panose="020F0502020204030204" pitchFamily="34" charset="0"/>
                <a:cs typeface="Calibri" panose="020F0502020204030204" pitchFamily="34" charset="0"/>
              </a:rPr>
              <a:t>(26.85%)</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Interpretation</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Overall Churn Rate of 20.37% indicates that approximately one out of every five customers has left the bank.</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High-Value Customer Churn Ratio suggests that customers with higher account balances are leaving at a greater rate than other customer segments, potentially resulting in a significant loss of revenue.</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Geographic Risk Index highlights variations in churn across different countries, indicating the need for region-specific customer retention strategies.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Engagement Drop Indicator demonstrates that inactive customers are considerably more likely to churn than active customers, emphasizing the importance of customer engagement initiatives.</a:t>
            </a: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DASHBOARD ANALYSIS</a:t>
            </a:r>
            <a:endParaRPr lang="en-US" sz="2200" b="1">
              <a:latin typeface="Calibri" panose="020F0502020204030204" pitchFamily="34" charset="0"/>
              <a:cs typeface="Calibri" panose="020F0502020204030204" pitchFamily="34" charset="0"/>
            </a:endParaRPr>
          </a:p>
        </p:txBody>
      </p:sp>
      <p:pic>
        <p:nvPicPr>
          <p:cNvPr id="7" name="Picture 6" descr="Screenshot 2026-08-03 131652"/>
          <p:cNvPicPr>
            <a:picLocks noChangeAspect="1"/>
          </p:cNvPicPr>
          <p:nvPr/>
        </p:nvPicPr>
        <p:blipFill>
          <a:blip r:embed="rId1"/>
          <a:stretch>
            <a:fillRect/>
          </a:stretch>
        </p:blipFill>
        <p:spPr>
          <a:xfrm>
            <a:off x="185420" y="1699260"/>
            <a:ext cx="1615440" cy="548640"/>
          </a:xfrm>
          <a:prstGeom prst="rect">
            <a:avLst/>
          </a:prstGeom>
        </p:spPr>
      </p:pic>
      <p:pic>
        <p:nvPicPr>
          <p:cNvPr id="9" name="Picture 8" descr="Screenshot 2026-08-04 124939"/>
          <p:cNvPicPr>
            <a:picLocks noChangeAspect="1"/>
          </p:cNvPicPr>
          <p:nvPr/>
        </p:nvPicPr>
        <p:blipFill>
          <a:blip r:embed="rId2"/>
          <a:stretch>
            <a:fillRect/>
          </a:stretch>
        </p:blipFill>
        <p:spPr>
          <a:xfrm>
            <a:off x="1884680" y="1714500"/>
            <a:ext cx="1676400" cy="533400"/>
          </a:xfrm>
          <a:prstGeom prst="rect">
            <a:avLst/>
          </a:prstGeom>
        </p:spPr>
      </p:pic>
      <p:pic>
        <p:nvPicPr>
          <p:cNvPr id="10" name="Picture 9" descr="Screenshot 2026-08-04 124946"/>
          <p:cNvPicPr>
            <a:picLocks noChangeAspect="1"/>
          </p:cNvPicPr>
          <p:nvPr/>
        </p:nvPicPr>
        <p:blipFill>
          <a:blip r:embed="rId3"/>
          <a:stretch>
            <a:fillRect/>
          </a:stretch>
        </p:blipFill>
        <p:spPr>
          <a:xfrm>
            <a:off x="3561080" y="1699260"/>
            <a:ext cx="1684020" cy="533400"/>
          </a:xfrm>
          <a:prstGeom prst="rect">
            <a:avLst/>
          </a:prstGeom>
        </p:spPr>
      </p:pic>
      <p:pic>
        <p:nvPicPr>
          <p:cNvPr id="11" name="Picture 10" descr="Screenshot 2026-08-04 124957"/>
          <p:cNvPicPr>
            <a:picLocks noChangeAspect="1"/>
          </p:cNvPicPr>
          <p:nvPr/>
        </p:nvPicPr>
        <p:blipFill>
          <a:blip r:embed="rId4"/>
          <a:stretch>
            <a:fillRect/>
          </a:stretch>
        </p:blipFill>
        <p:spPr>
          <a:xfrm>
            <a:off x="5169535" y="1714500"/>
            <a:ext cx="1638300" cy="571500"/>
          </a:xfrm>
          <a:prstGeom prst="rect">
            <a:avLst/>
          </a:prstGeom>
        </p:spPr>
      </p:pic>
      <p:sp>
        <p:nvSpPr>
          <p:cNvPr id="13" name="Slide Number Placeholder 12"/>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805" y="2613660"/>
            <a:ext cx="5915025" cy="7173595"/>
          </a:xfrm>
        </p:spPr>
        <p:txBody>
          <a:bodyPr>
            <a:noAutofit/>
          </a:bodyPr>
          <a:lstStyle/>
          <a:p>
            <a:pPr marL="0" indent="0" algn="just">
              <a:buNone/>
            </a:pPr>
            <a:r>
              <a:rPr lang="en-US" altLang="en-US" sz="1600" b="1">
                <a:solidFill>
                  <a:schemeClr val="tx1"/>
                </a:solidFill>
                <a:latin typeface="Calibri" panose="020F0502020204030204" pitchFamily="34" charset="0"/>
                <a:cs typeface="Calibri" panose="020F0502020204030204" pitchFamily="34" charset="0"/>
              </a:rPr>
              <a:t>7.2 Customer Churn by Geography</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compares customer churn across France, Germany, and Spain.</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Analysis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b="1">
                <a:solidFill>
                  <a:srgbClr val="002060"/>
                </a:solidFill>
                <a:latin typeface="Calibri" panose="020F0502020204030204" pitchFamily="34" charset="0"/>
                <a:cs typeface="Calibri" panose="020F0502020204030204" pitchFamily="34" charset="0"/>
              </a:rPr>
              <a:t>Germany</a:t>
            </a:r>
            <a:r>
              <a:rPr lang="en-US" altLang="en-US" sz="1600">
                <a:solidFill>
                  <a:srgbClr val="002060"/>
                </a:solidFill>
                <a:latin typeface="Calibri" panose="020F0502020204030204" pitchFamily="34" charset="0"/>
                <a:cs typeface="Calibri" panose="020F0502020204030204" pitchFamily="34" charset="0"/>
              </a:rPr>
              <a:t> records the highest customer churn rate among the three countries.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France and Spain demonstrate relatively lower churn rates.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This variation suggests that geographical factors, customer expectations, competitive intensity, or service quality may influence customer retention.</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Banks should investigate customer experience and market conditions within Germany to reduce churn.</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7.3 Customer Churn by Gender</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compares churn between male and female customers.</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Analysis</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rgbClr val="002060"/>
                </a:solidFill>
                <a:latin typeface="Calibri" panose="020F0502020204030204" pitchFamily="34" charset="0"/>
                <a:cs typeface="Calibri" panose="020F0502020204030204" pitchFamily="34" charset="0"/>
              </a:rPr>
              <a:t>Female </a:t>
            </a:r>
            <a:r>
              <a:rPr lang="en-US" altLang="en-US" sz="1600">
                <a:solidFill>
                  <a:srgbClr val="002060"/>
                </a:solidFill>
                <a:latin typeface="Calibri" panose="020F0502020204030204" pitchFamily="34" charset="0"/>
                <a:cs typeface="Calibri" panose="020F0502020204030204" pitchFamily="34" charset="0"/>
              </a:rPr>
              <a:t>customers exhibit a slightly higher churn rate compared with male customers.</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p:txBody>
      </p:sp>
      <p:pic>
        <p:nvPicPr>
          <p:cNvPr id="7" name="Picture 6" descr="Screenshot 2026-08-03 131732"/>
          <p:cNvPicPr>
            <a:picLocks noChangeAspect="1"/>
          </p:cNvPicPr>
          <p:nvPr/>
        </p:nvPicPr>
        <p:blipFill>
          <a:blip r:embed="rId1"/>
          <a:stretch>
            <a:fillRect/>
          </a:stretch>
        </p:blipFill>
        <p:spPr>
          <a:xfrm>
            <a:off x="1730375" y="677545"/>
            <a:ext cx="3397250" cy="1713230"/>
          </a:xfrm>
          <a:prstGeom prst="rect">
            <a:avLst/>
          </a:prstGeom>
        </p:spPr>
      </p:pic>
      <p:pic>
        <p:nvPicPr>
          <p:cNvPr id="5" name="Picture 4" descr="Screenshot 2026-08-03 131722"/>
          <p:cNvPicPr>
            <a:picLocks noChangeAspect="1"/>
          </p:cNvPicPr>
          <p:nvPr/>
        </p:nvPicPr>
        <p:blipFill>
          <a:blip r:embed="rId2"/>
          <a:stretch>
            <a:fillRect/>
          </a:stretch>
        </p:blipFill>
        <p:spPr>
          <a:xfrm>
            <a:off x="2171700" y="6035040"/>
            <a:ext cx="2514600" cy="1553845"/>
          </a:xfrm>
          <a:prstGeom prst="rect">
            <a:avLst/>
          </a:prstGeom>
        </p:spPr>
      </p:pic>
      <p:sp>
        <p:nvSpPr>
          <p:cNvPr id="6" name="Slide Number Placeholder 5"/>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488" y="2629394"/>
            <a:ext cx="5915025" cy="6285266"/>
          </a:xfrm>
        </p:spPr>
        <p:txBody>
          <a:bodyPr>
            <a:noAutofit/>
          </a:bodyPr>
          <a:p>
            <a:pPr marL="0" indent="0" algn="just">
              <a:buNone/>
            </a:pPr>
            <a:r>
              <a:rPr lang="en-US" altLang="en-US" sz="1600" b="1">
                <a:latin typeface="Calibri" panose="020F0502020204030204" pitchFamily="34" charset="0"/>
                <a:cs typeface="Calibri" panose="020F0502020204030204" pitchFamily="34" charset="0"/>
                <a:sym typeface="+mn-ea"/>
              </a:rPr>
              <a:t>7.4 Customer Churn by Age Group</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sym typeface="+mn-ea"/>
              </a:rPr>
              <a:t>Customers were categorized into age groups to better understand demographic trends.</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sym typeface="+mn-ea"/>
              </a:rPr>
              <a:t>The dashboard indicates that customers aged 46–60 years represent the highest churn segment.</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sym typeface="+mn-ea"/>
              </a:rPr>
              <a:t>Younger customers generally display lower churn rates.</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Business Interpretation</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Middle-aged customers often possess larger account balances and utilize multiple banking products. Losing these customers has a greater financial impact on the bank compared with younger customer segments.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Targeted loyalty programs and personalized financial services may improve retention within this age group.</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7.5 Customer Churn by Tenure</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categorizes customers based on the length of their relationship with the bank.</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endParaRPr lang="en-US" altLang="en-US" sz="1600">
              <a:solidFill>
                <a:srgbClr val="002060"/>
              </a:solidFill>
              <a:latin typeface="Calibri" panose="020F0502020204030204" pitchFamily="34" charset="0"/>
              <a:cs typeface="Calibri" panose="020F0502020204030204" pitchFamily="34" charset="0"/>
            </a:endParaRPr>
          </a:p>
        </p:txBody>
      </p:sp>
      <p:pic>
        <p:nvPicPr>
          <p:cNvPr id="5" name="Picture 4" descr="Screenshot 2026-08-03 131703"/>
          <p:cNvPicPr>
            <a:picLocks noChangeAspect="1"/>
          </p:cNvPicPr>
          <p:nvPr/>
        </p:nvPicPr>
        <p:blipFill>
          <a:blip r:embed="rId1"/>
          <a:stretch>
            <a:fillRect/>
          </a:stretch>
        </p:blipFill>
        <p:spPr>
          <a:xfrm>
            <a:off x="1833880" y="717550"/>
            <a:ext cx="3009265" cy="1774825"/>
          </a:xfrm>
          <a:prstGeom prst="rect">
            <a:avLst/>
          </a:prstGeom>
        </p:spPr>
      </p:pic>
      <p:pic>
        <p:nvPicPr>
          <p:cNvPr id="6" name="Picture 5" descr="Screenshot 2026-08-03 131709"/>
          <p:cNvPicPr>
            <a:picLocks noChangeAspect="1"/>
          </p:cNvPicPr>
          <p:nvPr/>
        </p:nvPicPr>
        <p:blipFill>
          <a:blip r:embed="rId2"/>
          <a:stretch>
            <a:fillRect/>
          </a:stretch>
        </p:blipFill>
        <p:spPr>
          <a:xfrm>
            <a:off x="1951990" y="6259830"/>
            <a:ext cx="2773045" cy="1759585"/>
          </a:xfrm>
          <a:prstGeom prst="rect">
            <a:avLst/>
          </a:prstGeom>
        </p:spPr>
      </p:pic>
      <p:sp>
        <p:nvSpPr>
          <p:cNvPr id="7" name="Slide Number Placeholder 6"/>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805" y="743585"/>
            <a:ext cx="5915025" cy="8769350"/>
          </a:xfrm>
        </p:spPr>
        <p:txBody>
          <a:bodyPr>
            <a:noAutofit/>
          </a:bodyPr>
          <a:p>
            <a:pPr marL="0" indent="0" algn="just">
              <a:buNone/>
            </a:pPr>
            <a:r>
              <a:rPr lang="en-US" altLang="en-US" sz="1600" b="1">
                <a:latin typeface="Calibri" panose="020F0502020204030204" pitchFamily="34" charset="0"/>
                <a:cs typeface="Calibri" panose="020F0502020204030204" pitchFamily="34" charset="0"/>
                <a:sym typeface="+mn-ea"/>
              </a:rPr>
              <a:t>Analysis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Customers with medium tenure contribute the largest proportion of churned customers.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This suggests that customer satisfaction should be monitored continuously rather than focusing solely on new customers.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Long-term customer engagement strategies remain essential for improving retention.</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endParaRPr lang="en-US" altLang="en-US" sz="1600" b="1">
              <a:latin typeface="Calibri" panose="020F0502020204030204" pitchFamily="34" charset="0"/>
              <a:cs typeface="Calibri" panose="020F0502020204030204" pitchFamily="34" charset="0"/>
              <a:sym typeface="+mn-ea"/>
            </a:endParaRPr>
          </a:p>
          <a:p>
            <a:pPr marL="0" indent="0" algn="just">
              <a:buNone/>
            </a:pPr>
            <a:r>
              <a:rPr lang="en-US" altLang="en-US" sz="1600" b="1">
                <a:latin typeface="Calibri" panose="020F0502020204030204" pitchFamily="34" charset="0"/>
                <a:cs typeface="Calibri" panose="020F0502020204030204" pitchFamily="34" charset="0"/>
                <a:sym typeface="+mn-ea"/>
              </a:rPr>
              <a:t>7.6 Customer Churn by Balance Segment</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sym typeface="+mn-ea"/>
              </a:rPr>
              <a:t>Customers were divided into Zero Balance, Low Balance, and High Balance categories.</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latin typeface="Calibri" panose="020F0502020204030204" pitchFamily="34" charset="0"/>
                <a:cs typeface="Calibri" panose="020F0502020204030204" pitchFamily="34" charset="0"/>
                <a:sym typeface="+mn-ea"/>
              </a:rPr>
              <a:t>Analysis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High-balance customers demonstrate the highest churn ratio (25.23%).</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This finding is particularly important because these customers contribute significantly to the bank's revenue.</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Retaining high-value customers should therefore be considered a strategic priority.</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7.7 High-Value Customer Summary</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Although high-value customers represent a smaller proportion of the overall customer base, they account for a disproportionately large share of churn.</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This suggests that banks should develop specialized relationship management programs and premium banking services to improve customer loyalty among this segment.</a:t>
            </a:r>
            <a:endParaRPr lang="en-US" altLang="en-US" sz="1600">
              <a:solidFill>
                <a:srgbClr val="002060"/>
              </a:solidFill>
              <a:latin typeface="Calibri" panose="020F0502020204030204" pitchFamily="34" charset="0"/>
              <a:cs typeface="Calibri" panose="020F0502020204030204" pitchFamily="34" charset="0"/>
            </a:endParaRPr>
          </a:p>
        </p:txBody>
      </p:sp>
      <p:pic>
        <p:nvPicPr>
          <p:cNvPr id="4" name="Picture 3" descr="Screenshot 2026-08-03 131716"/>
          <p:cNvPicPr>
            <a:picLocks noChangeAspect="1"/>
          </p:cNvPicPr>
          <p:nvPr/>
        </p:nvPicPr>
        <p:blipFill>
          <a:blip r:embed="rId1"/>
          <a:stretch>
            <a:fillRect/>
          </a:stretch>
        </p:blipFill>
        <p:spPr>
          <a:xfrm>
            <a:off x="1706880" y="2876550"/>
            <a:ext cx="2590800" cy="1501140"/>
          </a:xfrm>
          <a:prstGeom prst="rect">
            <a:avLst/>
          </a:prstGeom>
        </p:spPr>
      </p:pic>
      <p:sp>
        <p:nvSpPr>
          <p:cNvPr id="5" name="Slide Number Placeholder 4"/>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805" y="1398905"/>
            <a:ext cx="5915025" cy="7869555"/>
          </a:xfrm>
        </p:spPr>
        <p:txBody>
          <a:bodyPr>
            <a:noAutofit/>
          </a:bodyPr>
          <a:p>
            <a:pPr marL="0" indent="0" algn="just">
              <a:buNone/>
            </a:pPr>
            <a:r>
              <a:rPr lang="en-US" altLang="en-US" sz="1600">
                <a:solidFill>
                  <a:srgbClr val="002060"/>
                </a:solidFill>
                <a:latin typeface="Calibri" panose="020F0502020204030204" pitchFamily="34" charset="0"/>
                <a:cs typeface="Calibri" panose="020F0502020204030204" pitchFamily="34" charset="0"/>
              </a:rPr>
              <a:t>The analysis of customer churn patterns using Microsoft Power BI revealed several important insights that can support strategic decision-making within the banking sector.</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8.1 Overall Customer Churn</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The dashboard indicates an overall churn rate of 20.37%, meaning that approximately one out of every five customers has discontinued their relationship with the bank. This level of customer attrition represents a significant business concern, as acquiring new customers is generally more expensive than retaining existing ones.</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8.2 Geographic Analysis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geographical analysis demonstrates that customer churn varies across different regions.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Among the three countries included in the dataset, Germany records the highest churn rate, while France and Spain experience comparatively lower customer attrition.</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This finding suggests that regional market conditions, customer expectations, competitive intensity, or service quality may influence customer retention.</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8.3 Customer Engagement</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Engagement Drop Indicator of 26.85% highlights that inactive customers are substantially more likely to leave the bank than active customers.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Customer engagement therefore appears to be one of the strongest indicators of customer loyalty.</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Banks should regularly monitor inactive customers and introduce engagement campaigns before customers decide to leave.</a:t>
            </a: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KEY FINDINGS</a:t>
            </a:r>
            <a:endParaRPr lang="en-US" sz="2200" b="1">
              <a:latin typeface="Calibri" panose="020F0502020204030204" pitchFamily="34" charset="0"/>
              <a:cs typeface="Calibri" panose="020F0502020204030204" pitchFamily="34" charset="0"/>
            </a:endParaRPr>
          </a:p>
        </p:txBody>
      </p:sp>
      <p:sp>
        <p:nvSpPr>
          <p:cNvPr id="8" name="Slide Number Placeholder 7"/>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805" y="815975"/>
            <a:ext cx="5915025" cy="7625715"/>
          </a:xfrm>
        </p:spPr>
        <p:txBody>
          <a:bodyPr>
            <a:normAutofit fontScale="25000"/>
          </a:bodyPr>
          <a:p>
            <a:pPr marL="0" indent="0" algn="just">
              <a:buNone/>
            </a:pPr>
            <a:r>
              <a:rPr lang="en-US" altLang="en-US" sz="6400" b="1">
                <a:solidFill>
                  <a:schemeClr val="tx1"/>
                </a:solidFill>
                <a:latin typeface="Calibri" panose="020F0502020204030204" pitchFamily="34" charset="0"/>
                <a:cs typeface="Calibri" panose="020F0502020204030204" pitchFamily="34" charset="0"/>
              </a:rPr>
              <a:t>8.4 High-Value Customers</a:t>
            </a:r>
            <a:endParaRPr lang="en-US" altLang="en-US" sz="6400" b="1">
              <a:solidFill>
                <a:schemeClr val="tx1"/>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The dashboard shows a High-Value Customer Churn Ratio of 25.23%, indicating that customers with higher account balances are leaving the bank at a higher rate than expected.</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This finding is particularly important because high-value customers contribute significantly to the bank's profitability.</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Losing these customers can have a disproportionate impact on revenue and customer lifetime value.</a:t>
            </a:r>
            <a:endParaRPr lang="en-US" altLang="en-US" sz="6400">
              <a:solidFill>
                <a:srgbClr val="002060"/>
              </a:solidFill>
              <a:latin typeface="Calibri" panose="020F0502020204030204" pitchFamily="34" charset="0"/>
              <a:cs typeface="Calibri" panose="020F0502020204030204" pitchFamily="34" charset="0"/>
            </a:endParaRPr>
          </a:p>
          <a:p>
            <a:pPr algn="just"/>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b="1">
                <a:solidFill>
                  <a:schemeClr val="tx1"/>
                </a:solidFill>
                <a:latin typeface="Calibri" panose="020F0502020204030204" pitchFamily="34" charset="0"/>
                <a:cs typeface="Calibri" panose="020F0502020204030204" pitchFamily="34" charset="0"/>
              </a:rPr>
              <a:t>8.5 Age-Based Analysis</a:t>
            </a:r>
            <a:endParaRPr lang="en-US" altLang="en-US" sz="6400" b="1">
              <a:solidFill>
                <a:schemeClr val="tx1"/>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The analysis indicates that customers between 46 and 60 years of age exhibit the highest churn rate.</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This customer segment often represents financially stable individuals who maintain larger balances and use multiple banking products.</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Retaining these customers should therefore become a strategic priority.</a:t>
            </a:r>
            <a:endParaRPr lang="en-US" altLang="en-US" sz="6400">
              <a:solidFill>
                <a:srgbClr val="002060"/>
              </a:solidFill>
              <a:latin typeface="Calibri" panose="020F0502020204030204" pitchFamily="34" charset="0"/>
              <a:cs typeface="Calibri" panose="020F0502020204030204" pitchFamily="34" charset="0"/>
            </a:endParaRPr>
          </a:p>
          <a:p>
            <a:pPr algn="just"/>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b="1">
                <a:solidFill>
                  <a:schemeClr val="tx1"/>
                </a:solidFill>
                <a:latin typeface="Calibri" panose="020F0502020204030204" pitchFamily="34" charset="0"/>
                <a:cs typeface="Calibri" panose="020F0502020204030204" pitchFamily="34" charset="0"/>
              </a:rPr>
              <a:t>8.6 Product Ownership</a:t>
            </a:r>
            <a:endParaRPr lang="en-US" altLang="en-US" sz="6400" b="1">
              <a:solidFill>
                <a:schemeClr val="tx1"/>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Customers owning only a limited number of banking products appear more likely to churn than customers using multiple products.</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Cross-selling additional banking products may therefore strengthen customer relationships and reduce the probability of customer attrition</a:t>
            </a:r>
            <a:r>
              <a:rPr lang="en-US" altLang="en-US" sz="6400">
                <a:solidFill>
                  <a:srgbClr val="002060"/>
                </a:solidFill>
                <a:latin typeface="Calibri" panose="020F0502020204030204" pitchFamily="34" charset="0"/>
                <a:cs typeface="Calibri" panose="020F0502020204030204" pitchFamily="34" charset="0"/>
              </a:rPr>
              <a:t>.</a:t>
            </a:r>
            <a:endParaRPr lang="en-US" altLang="en-US" sz="6400">
              <a:solidFill>
                <a:srgbClr val="00206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488" y="1214614"/>
            <a:ext cx="5915025" cy="6285266"/>
          </a:xfrm>
        </p:spPr>
        <p:txBody>
          <a:bodyPr>
            <a:noAutofit/>
          </a:bodyPr>
          <a:p>
            <a:pPr marL="0" indent="0" algn="just">
              <a:buNone/>
            </a:pPr>
            <a:r>
              <a:rPr lang="en-US" altLang="en-US" sz="1600">
                <a:solidFill>
                  <a:srgbClr val="002060"/>
                </a:solidFill>
                <a:latin typeface="Calibri" panose="020F0502020204030204" pitchFamily="34" charset="0"/>
                <a:cs typeface="Calibri" panose="020F0502020204030204" pitchFamily="34" charset="0"/>
              </a:rPr>
              <a:t>Based on the analytical findings, several practical recommendations are proposed to improve customer retention.</a:t>
            </a:r>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9.1 Strengthen Customer Engagement</a:t>
            </a:r>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a:solidFill>
                  <a:srgbClr val="002060"/>
                </a:solidFill>
                <a:latin typeface="Calibri" panose="020F0502020204030204" pitchFamily="34" charset="0"/>
                <a:cs typeface="Calibri" panose="020F0502020204030204" pitchFamily="34" charset="0"/>
              </a:rPr>
              <a:t>Inactive customers should receive personalized engagement campaigns, including financial education, loyalty rewards, and promotional offers designed to encourage continued interaction with the bank.</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9.2 Focus on High-Value Customers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Relationship managers should proactively monitor customers maintaining high account balances.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Premium banking services, exclusive benefits, and personalized financial advice may improve customer satisfaction and reduce churn.</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9.3 Region-Specific Retention Strategies</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Since Germany exhibits the highest churn rate, customer experience surveys and regional service improvements should be prioritized within this market.</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Localized marketing campaigns may also improve customer retention.</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marL="0" indent="0">
              <a:buNone/>
            </a:pPr>
            <a:r>
              <a:rPr lang="en-US" altLang="en-US" sz="1600" b="1">
                <a:latin typeface="Calibri" panose="020F0502020204030204" pitchFamily="34" charset="0"/>
                <a:cs typeface="Calibri" panose="020F0502020204030204" pitchFamily="34" charset="0"/>
                <a:sym typeface="+mn-ea"/>
              </a:rPr>
              <a:t>9.4 Promote Multi-Product Adoption</a:t>
            </a:r>
            <a:endParaRPr lang="en-US" altLang="en-US" sz="1600" b="1">
              <a:solidFill>
                <a:schemeClr val="tx1"/>
              </a:solidFill>
              <a:latin typeface="Calibri" panose="020F0502020204030204" pitchFamily="34" charset="0"/>
              <a:cs typeface="Calibri" panose="020F0502020204030204" pitchFamily="34" charset="0"/>
            </a:endParaRPr>
          </a:p>
          <a:p>
            <a:pPr marL="0" indent="0">
              <a:buNone/>
            </a:pPr>
            <a:r>
              <a:rPr lang="en-US" altLang="en-US" sz="1600">
                <a:solidFill>
                  <a:srgbClr val="002060"/>
                </a:solidFill>
                <a:latin typeface="Calibri" panose="020F0502020204030204" pitchFamily="34" charset="0"/>
                <a:cs typeface="Calibri" panose="020F0502020204030204" pitchFamily="34" charset="0"/>
                <a:sym typeface="+mn-ea"/>
              </a:rPr>
              <a:t>Customers using only one banking product should be encouraged to adopt additional financial products such as savings accounts, loans, insurance, investment products, or credit cards.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sym typeface="+mn-ea"/>
              </a:rPr>
              <a:t>Customers with stronger banking relationships are generally less likely to leave.</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BUSINESS RECOMMENDATION</a:t>
            </a:r>
            <a:endParaRPr lang="en-US" sz="2200" b="1">
              <a:latin typeface="Calibri" panose="020F0502020204030204" pitchFamily="34" charset="0"/>
              <a:cs typeface="Calibri" panose="020F0502020204030204" pitchFamily="34" charset="0"/>
            </a:endParaRPr>
          </a:p>
        </p:txBody>
      </p:sp>
      <p:sp>
        <p:nvSpPr>
          <p:cNvPr id="11" name="Slide Number Placeholder 10"/>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488" y="625334"/>
            <a:ext cx="5915025" cy="6285266"/>
          </a:xfrm>
        </p:spPr>
        <p:txBody>
          <a:bodyPr>
            <a:normAutofit/>
          </a:bodyPr>
          <a:p>
            <a:endParaRPr lang="en-US" altLang="en-US" sz="1800" b="1">
              <a:solidFill>
                <a:schemeClr val="tx1"/>
              </a:solidFill>
              <a:latin typeface="Calibri" panose="020F0502020204030204" pitchFamily="34" charset="0"/>
              <a:cs typeface="Calibri" panose="020F0502020204030204" pitchFamily="34" charset="0"/>
            </a:endParaRPr>
          </a:p>
          <a:p>
            <a:pPr marL="0" indent="0" algn="just">
              <a:buNone/>
            </a:pPr>
            <a:r>
              <a:rPr lang="en-US" altLang="en-US" sz="1600" b="1">
                <a:solidFill>
                  <a:schemeClr val="tx1"/>
                </a:solidFill>
                <a:latin typeface="Calibri" panose="020F0502020204030204" pitchFamily="34" charset="0"/>
                <a:cs typeface="Calibri" panose="020F0502020204030204" pitchFamily="34" charset="0"/>
              </a:rPr>
              <a:t>9.5 Continuous Dashboard Monitoring</a:t>
            </a:r>
            <a:endParaRPr lang="en-US" altLang="en-US" sz="1600" b="1">
              <a:solidFill>
                <a:schemeClr val="tx1"/>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Banks should integrate interactive Power BI dashboards into their regular business reporting processes.</a:t>
            </a:r>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Continuous monitoring of customer churn enables management to detect emerging trends and implement timely corrective actions.</a:t>
            </a:r>
            <a:endParaRPr lang="en-US" altLang="en-US" sz="1600">
              <a:solidFill>
                <a:srgbClr val="00206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170" y="607695"/>
            <a:ext cx="5915025" cy="8357870"/>
          </a:xfrm>
        </p:spPr>
        <p:txBody>
          <a:bodyPr>
            <a:normAutofit fontScale="25000"/>
          </a:bodyPr>
          <a:p>
            <a:endParaRPr lang="en-US" altLang="en-US"/>
          </a:p>
          <a:p>
            <a:pPr marL="0" indent="0">
              <a:buNone/>
            </a:pPr>
            <a:endParaRPr lang="en-US" altLang="en-US" sz="72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Although this project provides valuable business insights, several limitations should be acknowledged.</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The dataset represents historical customer information and does not capture changes in customer behavior over time.</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External economic factors influencing customer churn were not included.</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Customer satisfaction, service quality, and digital banking experience were unavailable within the dataset.</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The analysis focuses on descriptive business intelligence rather than predictive machine learning.</a:t>
            </a:r>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Future research may incorporate predictive analytics and artificial intelligence techniques to forecast customer churn more accurately.</a:t>
            </a:r>
            <a:endParaRPr lang="en-US" altLang="en-US" sz="6400">
              <a:solidFill>
                <a:srgbClr val="002060"/>
              </a:solidFill>
              <a:latin typeface="Calibri" panose="020F0502020204030204" pitchFamily="34" charset="0"/>
              <a:cs typeface="Calibri" panose="020F0502020204030204" pitchFamily="34" charset="0"/>
            </a:endParaRPr>
          </a:p>
          <a:p>
            <a:pPr algn="just"/>
            <a:endParaRPr lang="en-US" altLang="en-US" sz="6400">
              <a:solidFill>
                <a:srgbClr val="002060"/>
              </a:solidFill>
              <a:latin typeface="Calibri" panose="020F0502020204030204" pitchFamily="34" charset="0"/>
              <a:cs typeface="Calibri" panose="020F0502020204030204" pitchFamily="34" charset="0"/>
            </a:endParaRPr>
          </a:p>
          <a:p>
            <a:pPr marL="0" indent="0">
              <a:buNone/>
            </a:pPr>
            <a:endParaRPr lang="en-US" altLang="en-US" sz="11200" b="1">
              <a:solidFill>
                <a:schemeClr val="tx1"/>
              </a:solidFill>
              <a:latin typeface="Calibri" panose="020F0502020204030204" pitchFamily="34" charset="0"/>
              <a:cs typeface="Calibri" panose="020F0502020204030204" pitchFamily="34" charset="0"/>
            </a:endParaRPr>
          </a:p>
          <a:p>
            <a:pPr marL="0" indent="0" algn="just">
              <a:buNone/>
            </a:pPr>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The project can be extended by incorporating predictive analytics and advanced machine learning techniques.</a:t>
            </a:r>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Potential future enhancements include:</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Customer churn prediction using Random Forest and XGBoost</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Customer risk scoring models</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Real-time Power BI dashboards connected to live banking databases</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Integration with CRM systems for automated customer retention campaigns</a:t>
            </a:r>
            <a:endParaRPr lang="en-US" altLang="en-US" sz="6400">
              <a:solidFill>
                <a:srgbClr val="002060"/>
              </a:solidFill>
              <a:latin typeface="Calibri" panose="020F0502020204030204" pitchFamily="34" charset="0"/>
              <a:cs typeface="Calibri" panose="020F0502020204030204" pitchFamily="34" charset="0"/>
            </a:endParaRPr>
          </a:p>
          <a:p>
            <a:pPr algn="just"/>
            <a:r>
              <a:rPr lang="en-US" altLang="en-US" sz="6400">
                <a:solidFill>
                  <a:srgbClr val="002060"/>
                </a:solidFill>
                <a:latin typeface="Calibri" panose="020F0502020204030204" pitchFamily="34" charset="0"/>
                <a:cs typeface="Calibri" panose="020F0502020204030204" pitchFamily="34" charset="0"/>
              </a:rPr>
              <a:t>Explainable Artificial Intelligence (XAI) techniques for identifying churn drivers</a:t>
            </a:r>
            <a:endParaRPr lang="en-US" altLang="en-US" sz="6400">
              <a:solidFill>
                <a:srgbClr val="002060"/>
              </a:solidFill>
              <a:latin typeface="Calibri" panose="020F0502020204030204" pitchFamily="34" charset="0"/>
              <a:cs typeface="Calibri" panose="020F0502020204030204" pitchFamily="34" charset="0"/>
            </a:endParaRPr>
          </a:p>
          <a:p>
            <a:pPr marL="0" indent="0" algn="just">
              <a:buNone/>
            </a:pPr>
            <a:r>
              <a:rPr lang="en-US" altLang="en-US" sz="6400">
                <a:solidFill>
                  <a:srgbClr val="002060"/>
                </a:solidFill>
                <a:latin typeface="Calibri" panose="020F0502020204030204" pitchFamily="34" charset="0"/>
                <a:cs typeface="Calibri" panose="020F0502020204030204" pitchFamily="34" charset="0"/>
              </a:rPr>
              <a:t>These improvements would enable banks to transition from descriptive analytics to proactive customer retention strategies.</a:t>
            </a:r>
            <a:endParaRPr lang="en-US" altLang="en-US" sz="64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LIMITATIONS OF THE STUDY</a:t>
            </a:r>
            <a:endParaRPr lang="en-US" sz="2200" b="1">
              <a:latin typeface="Calibri" panose="020F0502020204030204" pitchFamily="34" charset="0"/>
              <a:cs typeface="Calibri" panose="020F0502020204030204" pitchFamily="34" charset="0"/>
            </a:endParaRPr>
          </a:p>
        </p:txBody>
      </p:sp>
      <p:sp>
        <p:nvSpPr>
          <p:cNvPr id="4" name="Text Box 3"/>
          <p:cNvSpPr txBox="1"/>
          <p:nvPr/>
        </p:nvSpPr>
        <p:spPr>
          <a:xfrm>
            <a:off x="0" y="473837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FUTURE SCOPE</a:t>
            </a:r>
            <a:endParaRPr lang="en-US" sz="2200" b="1">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488" y="1183499"/>
            <a:ext cx="5915025" cy="6285266"/>
          </a:xfrm>
        </p:spPr>
        <p:txBody>
          <a:bodyPr>
            <a:normAutofit/>
          </a:bodyPr>
          <a:p>
            <a:pPr algn="just"/>
            <a:r>
              <a:rPr lang="en-US" altLang="en-US" sz="1600">
                <a:solidFill>
                  <a:srgbClr val="002060"/>
                </a:solidFill>
                <a:latin typeface="Calibri" panose="020F0502020204030204" pitchFamily="34" charset="0"/>
                <a:cs typeface="Calibri" panose="020F0502020204030204" pitchFamily="34" charset="0"/>
              </a:rPr>
              <a:t>Customer retention has become one of the most important priorities within the modern banking industry. This project demonstrates how Microsoft Power BI can be effectively utilized to transform raw customer data into meaningful business intelligence.</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interactive dashboard successfully identified key customer segments with elevated churn rates by analyzing demographic, financial, and behavioral characteristics. The findings indicate that customer geography, engagement level, account balance, age group, and product ownership all influence customer retention.</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The visualization of key performance indicators enables banking professionals to monitor customer behavior efficiently and make informed business decisions. By implementing targeted retention strategies for high-risk customer groups, banks can improve customer satisfaction, reduce churn, and enhance long-term profitability.</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Overall, this project demonstrates the practical value of Business Intelligence tools in supporting evidence-based decision-making and strengthening customer relationship management within the banking sector.</a:t>
            </a: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CONCLUSION</a:t>
            </a:r>
            <a:endParaRPr lang="en-US" sz="2200" b="1">
              <a:latin typeface="Calibri" panose="020F0502020204030204" pitchFamily="34" charset="0"/>
              <a:cs typeface="Calibri" panose="020F0502020204030204" pitchFamily="34" charset="0"/>
            </a:endParaRPr>
          </a:p>
        </p:txBody>
      </p:sp>
      <p:sp>
        <p:nvSpPr>
          <p:cNvPr id="8" name="Slide Number Placeholder 7"/>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488" y="1310499"/>
            <a:ext cx="5915025" cy="6285266"/>
          </a:xfrm>
        </p:spPr>
        <p:txBody>
          <a:bodyPr/>
          <a:p>
            <a:pPr algn="just"/>
            <a:r>
              <a:rPr lang="en-US" altLang="en-US" sz="1600">
                <a:solidFill>
                  <a:srgbClr val="002060"/>
                </a:solidFill>
                <a:latin typeface="Calibri" panose="020F0502020204030204" pitchFamily="34" charset="0"/>
                <a:cs typeface="Calibri" panose="020F0502020204030204" pitchFamily="34" charset="0"/>
              </a:rPr>
              <a:t> Microsoft Power BI documentation. https://learn.microsoft.com/power-bi/</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Microsoft  Power BI Desktop. https://powerbi.microsoft.com/</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Unified Mentor-  Customer Segmentation &amp; Churn Pattern Analytics in European Banking: Project Guidelines. Unified Mentor Pvt. Ltd.</a:t>
            </a:r>
            <a:endParaRPr lang="en-US" altLang="en-US" sz="1600">
              <a:solidFill>
                <a:srgbClr val="002060"/>
              </a:solidFill>
              <a:latin typeface="Calibri" panose="020F0502020204030204" pitchFamily="34" charset="0"/>
              <a:cs typeface="Calibri" panose="020F0502020204030204" pitchFamily="34" charset="0"/>
            </a:endParaRPr>
          </a:p>
          <a:p>
            <a:pPr algn="just"/>
            <a:endParaRPr lang="en-US" altLang="en-US" sz="1600">
              <a:solidFill>
                <a:srgbClr val="002060"/>
              </a:solidFill>
              <a:latin typeface="Calibri" panose="020F0502020204030204" pitchFamily="34" charset="0"/>
              <a:cs typeface="Calibri" panose="020F0502020204030204" pitchFamily="34" charset="0"/>
            </a:endParaRPr>
          </a:p>
          <a:p>
            <a:pPr algn="just"/>
            <a:r>
              <a:rPr lang="en-US" altLang="en-US" sz="1600">
                <a:solidFill>
                  <a:srgbClr val="002060"/>
                </a:solidFill>
                <a:latin typeface="Calibri" panose="020F0502020204030204" pitchFamily="34" charset="0"/>
                <a:cs typeface="Calibri" panose="020F0502020204030204" pitchFamily="34" charset="0"/>
              </a:rPr>
              <a:t>European Central Bank- Banking supervision and financial stability. https://www.ecb.europa.eu/</a:t>
            </a:r>
            <a:endParaRPr lang="en-US" altLang="en-US" sz="1600">
              <a:solidFill>
                <a:srgbClr val="002060"/>
              </a:solidFill>
              <a:latin typeface="Calibri" panose="020F0502020204030204" pitchFamily="34" charset="0"/>
              <a:cs typeface="Calibri" panose="020F0502020204030204" pitchFamily="34" charset="0"/>
            </a:endParaRPr>
          </a:p>
        </p:txBody>
      </p:sp>
      <p:sp>
        <p:nvSpPr>
          <p:cNvPr id="12" name="Text Box 11"/>
          <p:cNvSpPr txBox="1"/>
          <p:nvPr/>
        </p:nvSpPr>
        <p:spPr>
          <a:xfrm>
            <a:off x="-635" y="417830"/>
            <a:ext cx="6877050" cy="429895"/>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en-US" sz="2200" b="1">
                <a:latin typeface="Calibri" panose="020F0502020204030204" pitchFamily="34" charset="0"/>
                <a:cs typeface="Calibri" panose="020F0502020204030204" pitchFamily="34" charset="0"/>
              </a:rPr>
              <a:t>REFERENCES</a:t>
            </a:r>
            <a:endParaRPr lang="en-US" sz="2200" b="1">
              <a:latin typeface="Calibri" panose="020F0502020204030204" pitchFamily="34" charset="0"/>
              <a:cs typeface="Calibri" panose="020F0502020204030204" pitchFamily="34" charset="0"/>
            </a:endParaRPr>
          </a:p>
        </p:txBody>
      </p:sp>
      <p:sp>
        <p:nvSpPr>
          <p:cNvPr id="7" name="Text Box 6"/>
          <p:cNvSpPr txBox="1"/>
          <p:nvPr/>
        </p:nvSpPr>
        <p:spPr>
          <a:xfrm>
            <a:off x="-10160" y="4899660"/>
            <a:ext cx="6918960" cy="170815"/>
          </a:xfrm>
          <a:prstGeom prst="rect">
            <a:avLst/>
          </a:prstGeom>
          <a:solidFill>
            <a:schemeClr val="bg2"/>
          </a:solidFill>
        </p:spPr>
        <p:txBody>
          <a:bodyPr wrap="square" rtlCol="0">
            <a:noAutofit/>
          </a:bodyPr>
          <a:p>
            <a:endParaRPr lang="en-US"/>
          </a:p>
        </p:txBody>
      </p:sp>
      <p:sp>
        <p:nvSpPr>
          <p:cNvPr id="8" name="Slide Number Placeholder 7"/>
          <p:cNvSpPr>
            <a:spLocks noGrp="1"/>
          </p:cNvSpPr>
          <p:nvPr>
            <p:ph type="sldNum" sz="quarter" idx="12"/>
          </p:nvPr>
        </p:nvSpPr>
        <p:spPr/>
        <p:txBody>
          <a:bodyPr/>
          <a:p>
            <a:fld id="{8D3AE019-4CEE-4ACC-8162-EC2B072192BC}" type="slidenum">
              <a:rPr lang="en-IN" smtClean="0"/>
            </a:fld>
            <a:endParaRPr lang="en-IN"/>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18325</Words>
  <Application>WPS Presentation</Application>
  <PresentationFormat>A4 Paper (210x297 mm)</PresentationFormat>
  <Paragraphs>386</Paragraphs>
  <Slides>20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20</vt:i4>
      </vt:variant>
    </vt:vector>
  </HeadingPairs>
  <TitlesOfParts>
    <vt:vector size="37" baseType="lpstr">
      <vt:lpstr>Arial</vt:lpstr>
      <vt:lpstr>SimSun</vt:lpstr>
      <vt:lpstr>Wingdings</vt:lpstr>
      <vt:lpstr>Calibri</vt:lpstr>
      <vt:lpstr>Aptos</vt:lpstr>
      <vt:lpstr>Segoe UI</vt:lpstr>
      <vt:lpstr>Microsoft YaHei</vt:lpstr>
      <vt:lpstr>Arial Unicode MS</vt:lpstr>
      <vt:lpstr>Aptos Display</vt:lpstr>
      <vt:lpstr>Segoe UI Variable Display</vt:lpstr>
      <vt:lpstr>Wingdings</vt:lpstr>
      <vt:lpstr>Inter Bold</vt:lpstr>
      <vt:lpstr>Inter</vt:lpstr>
      <vt:lpstr>Manrope ExtraBold</vt:lpstr>
      <vt:lpstr>Lato</vt:lpstr>
      <vt:lpstr>Segoe Print</vt:lpstr>
      <vt:lpstr>Office Theme</vt:lpstr>
      <vt:lpstr>Customer Segmentation &amp; Churn Pattern Analytics in European Banking Using Microsoft Power BI</vt:lpstr>
      <vt:lpstr>ABSTRACT</vt:lpstr>
      <vt:lpstr>INTRODUCTION</vt:lpstr>
      <vt:lpstr>PROBLEM STATEMENT</vt:lpstr>
      <vt:lpstr>PROJECT OBJECTIVES</vt:lpstr>
      <vt:lpstr>DATASET DESCRIPTION</vt:lpstr>
      <vt:lpstr>METHODOLOGY</vt:lpstr>
      <vt:lpstr>PowerPoint 演示文稿</vt:lpstr>
      <vt:lpstr>DASHBOARD OVERVIEW</vt:lpstr>
      <vt:lpstr>DASHBOARD ANALYSIS</vt:lpstr>
      <vt:lpstr>PowerPoint 演示文稿</vt:lpstr>
      <vt:lpstr>PowerPoint 演示文稿</vt:lpstr>
      <vt:lpstr>PowerPoint 演示文稿</vt:lpstr>
      <vt:lpstr>KEY FINDINGS</vt:lpstr>
      <vt:lpstr>PowerPoint 演示文稿</vt:lpstr>
      <vt:lpstr>BUSINESS RECOMMENDATION</vt:lpstr>
      <vt:lpstr>PowerPoint 演示文稿</vt:lpstr>
      <vt:lpstr>PowerPoint 演示文稿</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Sejal Singh</dc:creator>
  <cp:lastModifiedBy>Sejal Singh</cp:lastModifiedBy>
  <cp:revision>3</cp:revision>
  <dcterms:created xsi:type="dcterms:W3CDTF">2026-08-03T08:50:00Z</dcterms:created>
  <dcterms:modified xsi:type="dcterms:W3CDTF">2026-08-04T07:52:08Z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154750F487594A348FD9580205E93434_12</vt:lpwstr>
  </property>
</Properties>
</file>